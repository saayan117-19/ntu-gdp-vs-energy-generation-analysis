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Brygada 1918"/>
      <p:regular r:id="rId201314"/>
    </p:embeddedFont>
    <p:embeddedFont>
      <p:font typeface="Brygada 1918 Medium"/>
      <p:regular r:id="rId201315"/>
    </p:embeddedFont>
    <p:embeddedFont>
      <p:font typeface="Brygada 1918 SemiBold"/>
      <p:regular r:id="rId201316"/>
    </p:embeddedFont>
    <p:embeddedFont>
      <p:font typeface="Brygada 1918 Bold"/>
      <p:regular r:id="rId201317"/>
    </p:embeddedFont>
    <p:embeddedFont>
      <p:font typeface="Montserrat Thin"/>
      <p:regular r:id="rId201318"/>
    </p:embeddedFont>
    <p:embeddedFont>
      <p:font typeface="Montserrat"/>
      <p:regular r:id="rId201319"/>
    </p:embeddedFont>
    <p:embeddedFont>
      <p:font typeface="Montserrat SemiBold"/>
      <p:regular r:id="rId201320"/>
    </p:embeddedFont>
    <p:embeddedFont>
      <p:font typeface="Montserrat Bold"/>
      <p:regular r:id="rId201321"/>
    </p:embeddedFont>
    <p:embeddedFont>
      <p:font typeface="Montserrat Black"/>
      <p:regular r:id="rId201322"/>
    </p:embeddedFont>
    <p:embeddedFont>
      <p:font typeface="Montserrat Light"/>
      <p:regular r:id="rId201323"/>
    </p:embeddedFont>
    <p:embeddedFont>
      <p:font typeface="Montserrat ExtraLight"/>
      <p:regular r:id="rId201324"/>
    </p:embeddedFont>
    <p:embeddedFont>
      <p:font typeface="Montserrat Medium"/>
      <p:regular r:id="rId201325"/>
    </p:embeddedFont>
    <p:embeddedFont>
      <p:font typeface="Montserrat ExtraBold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202557"/>
            <a:ext cx="6371073" cy="178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Can Energy Generation Show Progression Through GDP?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68" y="4254004"/>
            <a:ext cx="6980658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Humaid · Suhail · Nikita · Sabyasachi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814" y="6479679"/>
            <a:ext cx="805636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930077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Contents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1881485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4368" y="2159198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624368" y="2299196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185043" y="1881485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5043" y="2159198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8" name="Text 6"/>
          <p:cNvSpPr/>
          <p:nvPr/>
        </p:nvSpPr>
        <p:spPr>
          <a:xfrm>
            <a:off x="6185043" y="2299196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EDA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4368" y="2908697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368" y="3186410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1" name="Text 9"/>
          <p:cNvSpPr/>
          <p:nvPr/>
        </p:nvSpPr>
        <p:spPr>
          <a:xfrm>
            <a:off x="624368" y="3326408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8-Variable Model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185043" y="2908697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5043" y="3186410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85043" y="3326408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Adjustments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4368" y="3935909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368" y="4213622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7" name="Text 15"/>
          <p:cNvSpPr/>
          <p:nvPr/>
        </p:nvSpPr>
        <p:spPr>
          <a:xfrm>
            <a:off x="624368" y="4353620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Classified by Country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85043" y="3935909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5043" y="4213622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85043" y="4353620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Classified by Year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24368" y="4963120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368" y="5240834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3" name="Text 21"/>
          <p:cNvSpPr/>
          <p:nvPr/>
        </p:nvSpPr>
        <p:spPr>
          <a:xfrm>
            <a:off x="624368" y="5380831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Decision Tree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85043" y="4963120"/>
            <a:ext cx="356782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5043" y="5240834"/>
            <a:ext cx="5382284" cy="2540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85043" y="5380831"/>
            <a:ext cx="5382284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24814" y="6479679"/>
            <a:ext cx="831135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1769467"/>
            <a:ext cx="6371073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68" y="2631678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55 years ago, 7 emirates were united by Sheikh Zayed Bin Sultan Al Nahyan — transforming a desert into a nation ranked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15th worldwide in HDI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30th in GDP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 UAE energy production grew from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12.18 TWh in 1985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to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133 TWh in 2019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(Statbase).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4368" y="3973810"/>
            <a:ext cx="6371073" cy="998736"/>
          </a:xfrm>
          <a:prstGeom prst="roundRect">
            <a:avLst>
              <a:gd name="adj" fmla="val 2680"/>
            </a:avLst>
          </a:prstGeom>
          <a:solidFill>
            <a:srgbClr val="8026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59" y="4224734"/>
            <a:ext cx="222939" cy="1783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4089" y="4196755"/>
            <a:ext cx="561296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Question: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Can energy generation show progression through GDP?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4814" y="6479679"/>
            <a:ext cx="830837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27546"/>
            <a:ext cx="10942959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EDA: Data Cleaning Process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125" y="1351855"/>
            <a:ext cx="9767445" cy="4212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69391" y="4755897"/>
            <a:ext cx="2363621" cy="29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Drop Incomplete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69391" y="3780879"/>
            <a:ext cx="2470722" cy="29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Find Consistent Years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869391" y="2815710"/>
            <a:ext cx="2459950" cy="29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Combine Dependents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869391" y="1840692"/>
            <a:ext cx="2363621" cy="29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Filter UN Countries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24368" y="5726410"/>
            <a:ext cx="10942959" cy="487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became consistent from 1995 onwards. After filtering for UN-recognized sovereign countries and combining dependent economies, we retained </a:t>
            </a:r>
            <a:pPr algn="l" indent="0" marL="0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77 countries</a:t>
            </a:r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with complete data across </a:t>
            </a:r>
            <a:pPr algn="l" indent="0" marL="0">
              <a:lnSpc>
                <a:spcPct val="127000"/>
              </a:lnSpc>
              <a:buNone/>
            </a:pPr>
            <a:r>
              <a:rPr lang="en-US" sz="12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31 years</a:t>
            </a:r>
            <a:pPr algn="l" indent="0" marL="0">
              <a:lnSpc>
                <a:spcPct val="127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4814" y="6479679"/>
            <a:ext cx="842941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021655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Initial Model: 8 Variables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146399"/>
            <a:ext cx="354718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Predictor Features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24368" y="2622153"/>
            <a:ext cx="3547180" cy="183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Renewables share (energy &amp; electricity change)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Fossil, coal, oil &amp; gas share (energy change)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Nuclear share (energy &amp; electricity change)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368" y="4619625"/>
            <a:ext cx="3547180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All 8 variables were used to predict GDP. The model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overfit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indicating further adjustments were needed.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3060" y="2084586"/>
            <a:ext cx="6960616" cy="3435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814" y="6479679"/>
            <a:ext cx="831135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178024"/>
            <a:ext cx="10942959" cy="4385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814" y="6479679"/>
            <a:ext cx="836492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30423"/>
            <a:ext cx="10942959" cy="505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Adjustments: Solving Multicollinearity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24368" y="1358106"/>
            <a:ext cx="528654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24368" y="1739702"/>
            <a:ext cx="5286540" cy="359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Initial models produced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negative R²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and overfit decision trees. The root cause was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VIF (Variance Inflation Factor)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severe multicollinearity among predictors.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715" y="2243832"/>
            <a:ext cx="4133846" cy="27402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4368" y="5129014"/>
            <a:ext cx="5286540" cy="756642"/>
          </a:xfrm>
          <a:prstGeom prst="roundRect">
            <a:avLst>
              <a:gd name="adj" fmla="val 3006"/>
            </a:avLst>
          </a:prstGeom>
          <a:solidFill>
            <a:srgbClr val="183A1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70" y="5350966"/>
            <a:ext cx="189503" cy="151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076" y="5282902"/>
            <a:ext cx="4642230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Final model: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Electricity generation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+ </a:t>
            </a:r>
            <a:pPr algn="l" indent="0" marL="0">
              <a:lnSpc>
                <a:spcPct val="12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per capita</a:t>
            </a:r>
            <a:pPr algn="l" indent="0" marL="0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R² approaching 1.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287136" y="1358106"/>
            <a:ext cx="528654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The Solution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87136" y="1739702"/>
            <a:ext cx="5286540" cy="359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Iteratively removed features with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VIF &gt; 5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keeping only those with low correlation to GDP and strong economic interpretability.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96" y="2243832"/>
            <a:ext cx="3352022" cy="30500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87136" y="5438874"/>
            <a:ext cx="5286540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6287136" y="5871071"/>
            <a:ext cx="5896125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24814" y="6479679"/>
            <a:ext cx="834111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218505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Classified by Country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169914"/>
            <a:ext cx="1094295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Per-country regression and classification models. The development of each country is compared against the median development of each country in the dataset.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4368" y="2941340"/>
            <a:ext cx="3528726" cy="1382613"/>
          </a:xfrm>
          <a:prstGeom prst="roundRect">
            <a:avLst>
              <a:gd name="adj" fmla="val 1936"/>
            </a:avLst>
          </a:prstGeom>
          <a:solidFill>
            <a:srgbClr val="5C2438"/>
          </a:solidFill>
          <a:ln w="25399">
            <a:solidFill>
              <a:srgbClr val="66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158" y="3145135"/>
            <a:ext cx="3121145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28158" y="3549452"/>
            <a:ext cx="312114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features + Linear Regression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1485" y="2941340"/>
            <a:ext cx="3528726" cy="1382613"/>
          </a:xfrm>
          <a:prstGeom prst="roundRect">
            <a:avLst>
              <a:gd name="adj" fmla="val 1936"/>
            </a:avLst>
          </a:prstGeom>
          <a:solidFill>
            <a:srgbClr val="5C2438"/>
          </a:solidFill>
          <a:ln w="25399">
            <a:solidFill>
              <a:srgbClr val="66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275" y="3145135"/>
            <a:ext cx="3121145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35275" y="3549452"/>
            <a:ext cx="312114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 features + Linear Regression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38601" y="2941340"/>
            <a:ext cx="3528726" cy="1382613"/>
          </a:xfrm>
          <a:prstGeom prst="roundRect">
            <a:avLst>
              <a:gd name="adj" fmla="val 1936"/>
            </a:avLst>
          </a:prstGeom>
          <a:solidFill>
            <a:srgbClr val="5C2438"/>
          </a:solidFill>
          <a:ln w="25399">
            <a:solidFill>
              <a:srgbClr val="66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2391" y="3145135"/>
            <a:ext cx="3121145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1b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42391" y="3549452"/>
            <a:ext cx="312114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 features + Logistic Regression (binary growth label)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368" y="4524673"/>
            <a:ext cx="10942959" cy="998736"/>
          </a:xfrm>
          <a:prstGeom prst="roundRect">
            <a:avLst>
              <a:gd name="adj" fmla="val 2680"/>
            </a:avLst>
          </a:prstGeom>
          <a:solidFill>
            <a:srgbClr val="4B3F0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9" y="4775597"/>
            <a:ext cx="222939" cy="17839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04089" y="4747617"/>
            <a:ext cx="1018484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Finding: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~25 training rows per country is insufficient for reliable generalization — a sample-size ceiling, not a tuning problem.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4814" y="6479679"/>
            <a:ext cx="839866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278235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1 (2 features + Linear Regression)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300982"/>
            <a:ext cx="4002285" cy="73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3232944"/>
            <a:ext cx="4002285" cy="10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368" y="4482703"/>
            <a:ext cx="4002285" cy="356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4368" y="5017889"/>
            <a:ext cx="461187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165" y="2341166"/>
            <a:ext cx="6498368" cy="22565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814" y="6479679"/>
            <a:ext cx="836492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301552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2 (4 features + Linear Regression)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324298"/>
            <a:ext cx="3774683" cy="73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3256260"/>
            <a:ext cx="3774683" cy="10023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368" y="4459288"/>
            <a:ext cx="3774683" cy="356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4368" y="4994473"/>
            <a:ext cx="4384268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563" y="2364482"/>
            <a:ext cx="6733014" cy="2456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814" y="6479679"/>
            <a:ext cx="888879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043980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1b (2 features + Logistic Regression)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066727"/>
            <a:ext cx="3660882" cy="73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2998688"/>
            <a:ext cx="3660882" cy="99288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8" y="4192290"/>
            <a:ext cx="3660882" cy="8591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4368" y="5252145"/>
            <a:ext cx="4270467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762" y="2106910"/>
            <a:ext cx="6846815" cy="33185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814" y="6479679"/>
            <a:ext cx="851772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768251"/>
            <a:ext cx="10942959" cy="44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Classified by Year: G7 Subset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4368" y="1254323"/>
            <a:ext cx="10942959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1: Linear Regression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24368" y="1627783"/>
            <a:ext cx="11552544" cy="14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Predicting GDP directly from electricity generation and energy per capita across G7 countries, year by year.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24368" y="1890415"/>
            <a:ext cx="3580715" cy="925215"/>
          </a:xfrm>
          <a:prstGeom prst="roundRect">
            <a:avLst>
              <a:gd name="adj" fmla="val 2169"/>
            </a:avLst>
          </a:prstGeom>
          <a:solidFill>
            <a:srgbClr val="4D1529"/>
          </a:solidFill>
          <a:ln/>
        </p:spPr>
      </p:sp>
      <p:sp>
        <p:nvSpPr>
          <p:cNvPr id="6" name="Text 4"/>
          <p:cNvSpPr/>
          <p:nvPr/>
        </p:nvSpPr>
        <p:spPr>
          <a:xfrm>
            <a:off x="758112" y="2024162"/>
            <a:ext cx="3313228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Test R² = 0.950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112" y="2307233"/>
            <a:ext cx="3313228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vs. R² ≈ -0.001 on full 77-country panel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5391" y="1890415"/>
            <a:ext cx="3580814" cy="925215"/>
          </a:xfrm>
          <a:prstGeom prst="roundRect">
            <a:avLst>
              <a:gd name="adj" fmla="val 2169"/>
            </a:avLst>
          </a:prstGeom>
          <a:solidFill>
            <a:srgbClr val="4D1529"/>
          </a:solidFill>
          <a:ln/>
        </p:spPr>
      </p:sp>
      <p:sp>
        <p:nvSpPr>
          <p:cNvPr id="9" name="Text 7"/>
          <p:cNvSpPr/>
          <p:nvPr/>
        </p:nvSpPr>
        <p:spPr>
          <a:xfrm>
            <a:off x="4439134" y="2024162"/>
            <a:ext cx="3313327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Low residual spread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39134" y="2307233"/>
            <a:ext cx="3313327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Errors cluster tightly around zero for most year-country pairs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86513" y="1890415"/>
            <a:ext cx="3580814" cy="925215"/>
          </a:xfrm>
          <a:prstGeom prst="roundRect">
            <a:avLst>
              <a:gd name="adj" fmla="val 2169"/>
            </a:avLst>
          </a:prstGeom>
          <a:solidFill>
            <a:srgbClr val="4D1529"/>
          </a:solidFill>
          <a:ln/>
        </p:spPr>
      </p:sp>
      <p:sp>
        <p:nvSpPr>
          <p:cNvPr id="12" name="Text 10"/>
          <p:cNvSpPr/>
          <p:nvPr/>
        </p:nvSpPr>
        <p:spPr>
          <a:xfrm>
            <a:off x="8120256" y="2024162"/>
            <a:ext cx="3313327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Best performance at mid-range GDP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0256" y="2307233"/>
            <a:ext cx="3313327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Most accurate where G7 countries behave most consistently over time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926" y="3041253"/>
            <a:ext cx="3981152" cy="2781498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241" y="3041253"/>
            <a:ext cx="3974604" cy="28196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4814" y="6479679"/>
            <a:ext cx="877270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494903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Decision Tree: Classification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1535509"/>
            <a:ext cx="354718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Version 2: High/Low growth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24368" y="2011263"/>
            <a:ext cx="3547180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Logistic Regression and Decision Tree classifiers on the G7 subset achieved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82–90% accuracy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— a sharp improvement over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~57–59%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from the full-country attempt.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4368" y="3638748"/>
            <a:ext cx="3547180" cy="2407642"/>
          </a:xfrm>
          <a:prstGeom prst="roundRect">
            <a:avLst>
              <a:gd name="adj" fmla="val 1112"/>
            </a:avLst>
          </a:prstGeom>
          <a:solidFill>
            <a:srgbClr val="8026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759" y="3908723"/>
            <a:ext cx="222939" cy="1783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4089" y="3843834"/>
            <a:ext cx="2789069" cy="199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Restricting to G7 economies — with comparable data quality and infrastructure — removed the heterogeneity noise causing negative R² and unstable classification.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60" y="2047180"/>
            <a:ext cx="6960616" cy="3509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814" y="6479679"/>
            <a:ext cx="877072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68" y="1096169"/>
            <a:ext cx="5253898" cy="438209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779" y="1096169"/>
            <a:ext cx="5062014" cy="454957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4814" y="6479679"/>
            <a:ext cx="889176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799505"/>
            <a:ext cx="6371073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24368" y="1661716"/>
            <a:ext cx="3096341" cy="2770584"/>
          </a:xfrm>
          <a:prstGeom prst="roundRect">
            <a:avLst>
              <a:gd name="adj" fmla="val 966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802759" y="1840111"/>
            <a:ext cx="273956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Not universally applicable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02759" y="2541786"/>
            <a:ext cx="2739560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Energy metrics do not reliably predict GDP progression across all countries — model performance varied significantly by classification and variable set.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9100" y="1661716"/>
            <a:ext cx="3096341" cy="2770584"/>
          </a:xfrm>
          <a:prstGeom prst="roundRect">
            <a:avLst>
              <a:gd name="adj" fmla="val 966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4077491" y="1840111"/>
            <a:ext cx="273956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Heterogeneity is the key obstacle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77491" y="2541786"/>
            <a:ext cx="2739560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G7-focused models succeeded (R² = 0.950, 82–90% accuracy), confirming that economic diversity — not modeling technique — drove earlier failures.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368" y="4610695"/>
            <a:ext cx="6371073" cy="1331813"/>
          </a:xfrm>
          <a:prstGeom prst="roundRect">
            <a:avLst>
              <a:gd name="adj" fmla="val 2009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802759" y="4789091"/>
            <a:ext cx="6014292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Final verdict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02759" y="5193407"/>
            <a:ext cx="601429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These energy metrics alone may not be the best way to measure a country's GDP and thus its progression.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4814" y="6479679"/>
            <a:ext cx="877270" cy="149920"/>
          </a:xfrm>
          <a:prstGeom prst="rect">
            <a:avLst/>
          </a:prstGeom>
          <a:noFill/>
          <a:ln/>
        </p:spPr>
        <p:txBody>
          <a:bodyPr wrap="none" lIns="0" tIns="93668" rIns="56201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2026-07-23T18:12:58Z</dcterms:created>
  <dcterms:modified xsi:type="dcterms:W3CDTF">2026-07-23T18:12:58Z</dcterms:modified>
</cp:coreProperties>
</file>